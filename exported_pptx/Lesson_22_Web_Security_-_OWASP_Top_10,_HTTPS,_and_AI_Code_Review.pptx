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C1D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0"/>
            <a:ext cx="12188952" cy="4114800"/>
          </a:xfrm>
          <a:prstGeom prst="rect">
            <a:avLst/>
          </a:prstGeom>
          <a:solidFill>
            <a:srgbClr val="6D28D9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00600"/>
            <a:ext cx="12188952" cy="2057400"/>
          </a:xfrm>
          <a:prstGeom prst="rect">
            <a:avLst/>
          </a:prstGeom>
          <a:solidFill>
            <a:srgbClr val="DB2777">
              <a:alpha val="40000"/>
            </a:srgbClr>
          </a:solidFill>
          <a:ln/>
        </p:spPr>
      </p:sp>
      <p:pic>
        <p:nvPicPr>
          <p:cNvPr id="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7196" y="548640"/>
            <a:ext cx="2194560" cy="914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265676" y="1691640"/>
            <a:ext cx="3657600" cy="411480"/>
          </a:xfrm>
          <a:prstGeom prst="roundRect">
            <a:avLst>
              <a:gd name="adj" fmla="val 44444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265676" y="16916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22 / 24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2377440"/>
            <a:ext cx="10360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Security — OWASP Top 10, HTTPS, and AI Code Review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1371600" y="374904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site gets attacked. Learn to defend against the ten most common web vulnerabilities, enable proper HTTPS and HSTS, and use AI as a second pair of eyes on every change.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15671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5671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3h 30m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15671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16839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6839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3h 30m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16839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18007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8007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18007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19175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9175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719175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920343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20343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920343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OWASP Top 10 (2025 edition)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1Broken Access Control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2Cryptographic Failures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3Injection (SQL, NoSQL, LDAP, OS)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4Insecure Design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5Security Misconfiguration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6Vulnerable and Outdated Components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7Identification and Authentication Failures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8Software and Data Integrity Failures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9Security Logging and Monitoring Failures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10Server-Side Request Forgery (SSRF)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Access Control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1591056"/>
          </a:xfrm>
          <a:prstGeom prst="roundRect">
            <a:avLst>
              <a:gd name="adj" fmla="val 5747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362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BAD: any user can delete any order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Route::delete('/orders/{id}', fn($id) =&gt; Order::destroy($id));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GOOD: only the owner or admin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Route::delete('/orders/{order}', function (Order $order)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Gate::authorize('delete', $order);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$order-&gt;delete();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962656"/>
            <a:ext cx="54864" cy="8229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Shape 12"/>
          <p:cNvSpPr/>
          <p:nvPr/>
        </p:nvSpPr>
        <p:spPr>
          <a:xfrm>
            <a:off x="512064" y="2962656"/>
            <a:ext cx="11219688" cy="822960"/>
          </a:xfrm>
          <a:prstGeom prst="rect">
            <a:avLst/>
          </a:prstGeom>
          <a:solidFill>
            <a:srgbClr val="B91C1C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054096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this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328416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as User A, try to fetch User B's resources. If you succeed, you have a bug.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9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249424"/>
          </a:xfrm>
          <a:prstGeom prst="roundRect">
            <a:avLst>
              <a:gd name="adj" fmla="val 4065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020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$name = $_GET['name'];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DB::select("SELECT * FROM users WHERE name = '$name'");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GOOD (Laravel, auto-prepared)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DB::select('SELECT * FROM users WHERE name = ?', [$name]);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GOOD (Eloquent)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User::where('name', $name)-&gt;first();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GOOD (Node mongo — don't concat queries)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User.find({ name: { $eq: req.body.name } });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(Cross-Site Scripting)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084832"/>
          </a:xfrm>
          <a:prstGeom prst="roundRect">
            <a:avLst>
              <a:gd name="adj" fmla="val 4386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856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BAD — raw user HTML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&lt;p&gt;{!! $post-&gt;body !!}&lt;/p&gt;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GOOD — escaped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&lt;p&gt;{{ $post-&gt;body }}&lt;/p&gt;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 React, auto-escaped by default: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&lt;p&gt;{post.body}&lt;/p&gt;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Allow only specific HTML (use HTMLPurifier)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&lt;p&gt;{{ Purifier::clean($post-&gt;body) }}&lt;/p&gt;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1920240"/>
          </a:xfrm>
          <a:prstGeom prst="roundRect">
            <a:avLst>
              <a:gd name="adj" fmla="val 4762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Blade --&gt;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 method="POST" action="/account/delete"&gt;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@csrf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@method('DELETE')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&lt;button&gt;Delete account&lt;/button&gt;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&lt;/form&gt;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Express (cookie-based SPA) --&gt;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app.get('/csrf', csurf(), (req, res) =&gt; res.json({ token: req.csrfToken() }));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Frontend includes 'csrf-token' header on mutating requests.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Cookies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1426464"/>
          </a:xfrm>
          <a:prstGeom prst="roundRect">
            <a:avLst>
              <a:gd name="adj" fmla="val 6410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res.cookie('session', value,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httpOnly: true,      // JS can't read it → blocks XSS theft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secure:   true,      // only sent over HTTPS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sameSite: 'strict',  // never sent on cross-site requests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maxAge:   30 * 24 * 60 * 60 * 1000,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path:     '/',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&amp; HSTS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▶Always use HTTPS — Let's Encrypt is free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▶Enable HSTS once confident: Strict-Transport-Security: max-age=31536000; includeSubDomains; preload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▶Submit to hstspreload.org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▶Redirect all http:// to https://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▶Use TLS 1.2+ only (disable TLS 1.0/1.1)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Security Policy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1920240"/>
          </a:xfrm>
          <a:prstGeom prst="roundRect">
            <a:avLst>
              <a:gd name="adj" fmla="val 4762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Content-Security-Policy: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default-src 'self';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script-src  'self' https://js.stripe.com;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img-src     'self' data: https:;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connect-src 'self' https://api.stripe.com;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style-src   'self' 'unsafe-inline';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frame-ancestors 'none';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base-uri    'self';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form-action 'self';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object-src  'none';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Security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▶Minimum length 12, no complexity rules (NIST 800-63)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▶Block 1 million most-leaked passwords (haveibeenpwned.com)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▶Argon2id or bcrypt 12+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▶Never log or email passwords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▶Encourage / require 2FA for high-value accounts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Management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▶Never commit .env, API keys, private certificates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▶Rotate secrets quarterly and after any staff departure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▶Use a manager: Doppler, 1Password CLI, AWS Secrets Manager, HashiCorp Vault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▶Audit git history with trufflehog / gitleaks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Hygiene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249424"/>
          </a:xfrm>
          <a:prstGeom prst="roundRect">
            <a:avLst>
              <a:gd name="adj" fmla="val 4065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020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audit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audit fix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npm-check-updates -u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PHP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composer audit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composer outdated --direct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GitHub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Dependabot → automatic PRs for security updates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Snyk / Socket — deeper scans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SSRF Prevention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1755648"/>
          </a:xfrm>
          <a:prstGeom prst="roundRect">
            <a:avLst>
              <a:gd name="adj" fmla="val 5208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527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BAD — fetches whatever the user provides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 = await fetch(req.body.url);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GOOD — allow only whitelisted domains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ALLOWED = ['images.unsplash.com', 'cdn.shopify.com'];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u = new URL(req.body.url);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(!ALLOWED.includes(u.hostname)) throw new HttpError(400, 'bad url');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Also block localhost / private IP ranges before fetching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&amp; DDoS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▶Cloudflare in front of every site — free tier stops 99% of DDoS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▶Per-endpoint rate-limits (Express, Laravel throttle)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▶CAPTCHA on sensitive endpoints (login, sign-up, contact)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▶fail2ban on SSH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&amp; Monitoring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▶Centralise logs — Logtail, Papertrail, Datadog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▶Sentry for error tracking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▶Alert on 5xx spikes, failed logins, DB errors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▶Keep logs ≥ 90 days for forensic analysis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▶Never log PII, passwords, full credit cards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16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Code Review Prompt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1426464"/>
          </a:xfrm>
          <a:prstGeom prst="roundRect">
            <a:avLst>
              <a:gd name="adj" fmla="val 6410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 principal security engineer.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 the following &lt;pr-diff&gt;. For each hunk: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Quote the line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Label the issue (A01-A10 from OWASP 2025)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Suggest the exact fix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Ignore lint / cosmetic issues. Be strict.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clean, reply 'LGTM — no security issues found'.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17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Pen-Testing Basics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▶Use Burp Suite Community to intercept requests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▶Try OWASP ZAP automated scan on staging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▶Check mobile apps with mitmproxy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▶Never scan sites you do not own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▶Maintain a security.txt file for disclosures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18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1Contain — rotate keys, revoke tokens, block the attacker IP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2Assess — what data did they reach?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3Notify — customers, authorities (GDPR 72h rule)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4Fix root cause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5Postmortem — blameless, actionable, published internally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19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Headers Cheatsheet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5637276"/>
                <a:gridCol w="563727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Strict-Transport-Security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max-age=31536000; includeSubDomains; preload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X-Content-Type-Options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nosniff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X-Frame-Options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DENY or SAMEORIGIN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Referrer-Policy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strict-origin-when-cross-origin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Permissions-Policy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geolocation=(), microphone=(), camera=()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Cross-Origin-Opener-Policy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same-origin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20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▶Every input is hostile — validate and escape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▶Auth + authorisation are separate — always check both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▶HTTPS, HSTS, CSP, and secure cookies are non-negotiable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▶Use AI to double-check every PR for OWASP issues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▶Have an incident-response plan before you need it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21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 — Lesson 23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go live! Next: </a:t>
            </a:r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to Hostinger — domains, MySQL, SSL &amp; email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Swiss Bridge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22: Lesson 22: Web Security — OWASP Top 10, HTTPS, and AI Code Review</dc:title>
  <dc:subject>AI-Powered Full Stack Development Bootcamp</dc:subject>
  <dc:creator>Swiss Bridge Academy</dc:creator>
  <cp:lastModifiedBy>Swiss Bridge Academy</cp:lastModifiedBy>
  <cp:revision>1</cp:revision>
  <dcterms:created xsi:type="dcterms:W3CDTF">2026-04-18T17:27:30Z</dcterms:created>
  <dcterms:modified xsi:type="dcterms:W3CDTF">2026-04-18T17:27:30Z</dcterms:modified>
</cp:coreProperties>
</file>